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 panose="020B0503020204020204" charset="-122"/>
              </a:rPr>
              <a:t>细粒度对话情绪识别系统</a:t>
            </a:r>
            <a:endParaRPr sz="5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solidFill>
                  <a:srgbClr val="B4B4B4"/>
                </a:solidFill>
                <a:latin typeface="微软雅黑" panose="020B0503020204020204" charset="-122"/>
              </a:rPr>
              <a:t>Scaling Fine-Grained Emotion Recognition in Dialogues with LLMs</a:t>
            </a:r>
            <a:endParaRPr sz="2400">
              <a:solidFill>
                <a:srgbClr val="B4B4B4"/>
              </a:solidFill>
              <a:latin typeface="微软雅黑" panose="020B0503020204020204" charset="-122"/>
            </a:endParaRPr>
          </a:p>
          <a:p>
            <a:pPr algn="ctr"/>
          </a:p>
          <a:p>
            <a:pPr algn="ctr"/>
            <a:r>
              <a:rPr sz="2400">
                <a:solidFill>
                  <a:srgbClr val="B4B4B4"/>
                </a:solidFill>
                <a:latin typeface="微软雅黑" panose="020B0503020204020204" charset="-122"/>
              </a:rPr>
              <a:t>团队：WHU EmotionAI 2026 Team</a:t>
            </a:r>
            <a:endParaRPr sz="2400">
              <a:solidFill>
                <a:srgbClr val="B4B4B4"/>
              </a:solidFill>
              <a:latin typeface="微软雅黑" panose="020B0503020204020204" charset="-122"/>
            </a:endParaRPr>
          </a:p>
          <a:p>
            <a:pPr algn="ctr"/>
            <a:r>
              <a:rPr sz="2400">
                <a:solidFill>
                  <a:srgbClr val="B4B4B4"/>
                </a:solidFill>
                <a:latin typeface="微软雅黑" panose="020B0503020204020204" charset="-122"/>
              </a:rPr>
              <a:t>日期：2026 年 3 月</a:t>
            </a:r>
            <a:endParaRPr sz="2400">
              <a:solidFill>
                <a:srgbClr val="B4B4B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项目背景与动机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研究领域：对话情绪识别（Emotion Recognition in Conversation, ERC）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核心挑战：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多轮对话中存在时序依赖与说话人交织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28 类细粒度标签语义高度相近（如 joy vs happiness）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传统单句情绪分类无法捕捉上下文语境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项目目标：构建上下文感知、高精度的细粒度情绪识别引擎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技术方案总览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底座模型：Qwen2.5-7B-Instruct（70 亿参数生成式 LLM）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微调方法：QLoRA（4-bit 量化 + LoRA 参数高效微调）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核心创新：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检索增强输入（RAI）— Sentence-BERT 动态语义锚定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多任务对齐策略（MTL）— 情绪 + 说话人 + 影响预测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数据对齐修正 — 角色标签纠偏 + 序列截断修复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架构图：数据采集 → 数据对齐 → RAI 检索 → QLoRA 微调 → API 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数据集与预处理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训练数据集：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EmpatheticDialogues: 32 类共情对话情绪标注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GoEmotions: 27 类大规模多标签情感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统一标签体系：28 类细粒度情绪分类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数据对齐核心技术：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角色纠偏：仅保留叙述者发言对应情绪，听者作为上下文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中性类降采样，缓解类别极度不平衡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上下文窗口智能拼接，保留最重要的多轮历史记录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模型架构与核心创新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1. 检索增强输入（RAI）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Sentence-BERT 编码训练集，检索 Top-3 真实示范（In-Context），有效消除相近情绪歧义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2. 多任务对齐策略（MTL）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细粒度情绪分类 + 说话人识别 + 情绪影响预测 同步生成学习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3. 关键训练策略与架构优化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突破性地将序列长度由 256 扩充至 768 tokens，彻底解决长提示被截断的致命瓶颈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8× RTX 3090 + DeepSpeed DeepSpeed ZeRO 显存优化并行训练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实验结果：打破细粒度情绪识别 SOTA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关键性能指标：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Zero-shot 基线 (Qwen2.5-7B): 28类加权 F1 37.86%</a:t>
            </a:r>
          </a:p>
          <a:p>
            <a:pPr lvl="1">
              <a:spcBef>
                <a:spcPts val="1000"/>
              </a:spcBef>
              <a:defRPr sz="2200" b="1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SOTA 最终模型 (RAI + MTL): 28类加权 F1 53.55% 🏆 (跃升约 15%)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粗粒度容错评估 (映射为 8 类情绪空间): F1 73.38%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实验关键洞察：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截断瓶颈致命性：早期 256 tokens 导致梯难以回传（F1 仅 37%）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辅助任务协同性：若取消多任务预测，F1 将从突破性的 0.55 暴降至 0.21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730" y="5676900"/>
            <a:ext cx="8389620" cy="1793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系统架构与弹性部署方案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前后端微服务拆分架构：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ERC1（研究引擎）：负责核心数据流洗、DeepSpeed并行训练与验证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Emotion_Ai_Api_CPU（发布模块）：FastAPI 高并发接口与沉浸式Web前端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多环境自适应部署：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Docker Compose 容器集群编排，实现 GPU 直通与大型权重模型卷挂载复用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本机单节点 Python 虚拟环境与 ASGI 服务器极速启动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AI 硬件动态感知：NVIDIA GPU计算 ⇄ 4-bit NF4量化节流 ⇄ 纯CPU降级运算 自动切换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系统前端展示与交互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57200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API 端点就绪：</a:t>
            </a:r>
          </a:p>
          <a:p>
            <a:pPr lvl="1">
              <a:spcBef>
                <a:spcPts val="800"/>
              </a:spcBef>
              <a:defRPr sz="180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POST /predict 实时推理</a:t>
            </a:r>
          </a:p>
          <a:p>
            <a:pPr>
              <a:defRPr sz="22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响应式交互体验：</a:t>
            </a:r>
          </a:p>
          <a:p>
            <a:pPr lvl="1">
              <a:spcBef>
                <a:spcPts val="800"/>
              </a:spcBef>
              <a:defRPr sz="180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动态历史对话列表管理</a:t>
            </a:r>
          </a:p>
          <a:p>
            <a:pPr>
              <a:defRPr sz="22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精准上下文捕获：</a:t>
            </a:r>
          </a:p>
          <a:p>
            <a:pPr lvl="1">
              <a:spcBef>
                <a:spcPts val="800"/>
              </a:spcBef>
              <a:defRPr sz="180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根据聊天铺垫逆转单句语义</a:t>
            </a:r>
          </a:p>
        </p:txBody>
      </p:sp>
      <p:pic>
        <p:nvPicPr>
          <p:cNvPr id="6" name="Picture 5" descr="ui_home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4090" y="1438910"/>
            <a:ext cx="6943725" cy="3853180"/>
          </a:xfrm>
          <a:prstGeom prst="rect">
            <a:avLst/>
          </a:prstGeom>
        </p:spPr>
      </p:pic>
      <p:pic>
        <p:nvPicPr>
          <p:cNvPr id="7" name="Picture 6" descr="ui_result_fear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781550"/>
            <a:ext cx="49439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一键式自动全流程管线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run_pipeline.sh 串行自动化设计：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步骤 1：底层环境与 Python 依赖安全隔离安装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步骤 2：自动建立至 HF Hub 的提速镜像链路，拉取原始评测语料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步骤 3：Qwen2.5 基座按需自动缓冲与加载，降低反复下载开销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步骤 4：多 GPU 智能切分布署数据分片，激活 QLoRA 展开微调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步骤 5：完成微调迭代，自动压线导出定制 Adapter 持久化部署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开源共享生态：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SOTA 训练权重已被团队开源发布于 fQwQf/erc-qwen2.5-7b-sota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总结与未来展望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核心突破归纳：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在极富挑战的 28 类情绪空间拔得头筹 (F1 &gt; 53%)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将大模型长文感知能力拓展进情绪心理学，成功取代传统隔离式自然语言分类系统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深度揭秘了 Prompt 截断与语料视角混淆对大模型认知对齐的破坏性反噬</a:t>
            </a:r>
          </a:p>
          <a:p>
            <a:pPr>
              <a:defRPr sz="2600" b="1">
                <a:solidFill>
                  <a:srgbClr val="64C8FF"/>
                </a:solidFill>
                <a:latin typeface="微软雅黑" panose="020B0503020204020204" charset="-122"/>
              </a:defRPr>
            </a:pPr>
            <a:r>
              <a:t>未来战略攻坚：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多模态感知融合：接入实时音轨和 FACS 微表情实现立体情绪绘像</a:t>
            </a:r>
          </a:p>
          <a:p>
            <a:pPr lvl="1">
              <a:spcBef>
                <a:spcPts val="1000"/>
              </a:spcBef>
              <a:defRPr sz="2200" b="0">
                <a:solidFill>
                  <a:srgbClr val="E6E6E6"/>
                </a:solidFill>
                <a:latin typeface="微软雅黑" panose="020B0503020204020204" charset="-122"/>
              </a:defRPr>
            </a:pPr>
            <a:r>
              <a:t>▪ 千亿模型潜能探索与用户隐性反馈在流式计算中的在线进化机制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89E9"/>
          </a:solidFill>
          <a:ln>
            <a:solidFill>
              <a:srgbClr val="418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 panose="020B0503020204020204" charset="-122"/>
              </a:rPr>
              <a:t>Q &amp; A / 感谢聆听</a:t>
            </a:r>
            <a:endParaRPr sz="5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sz="2400">
                <a:solidFill>
                  <a:srgbClr val="B4C8FF"/>
                </a:solidFill>
                <a:latin typeface="微软雅黑" panose="020B0503020204020204" charset="-122"/>
              </a:rPr>
              <a:t>WHU EmotionAI 2026 Team</a:t>
            </a:r>
            <a:endParaRPr sz="2400">
              <a:solidFill>
                <a:srgbClr val="B4C8FF"/>
              </a:solidFill>
              <a:latin typeface="微软雅黑" panose="020B0503020204020204" charset="-122"/>
            </a:endParaRPr>
          </a:p>
          <a:p>
            <a:pPr algn="ctr"/>
            <a:r>
              <a:rPr lang="zh-CN"/>
              <a:t>钟佳鹏，童济舟，陈谦，陈锦</a:t>
            </a:r>
          </a:p>
          <a:p>
            <a:pPr algn="ctr"/>
            <a:r>
              <a:rPr sz="2400">
                <a:solidFill>
                  <a:srgbClr val="B4C8FF"/>
                </a:solidFill>
                <a:latin typeface="微软雅黑" panose="020B0503020204020204" charset="-122"/>
              </a:rPr>
              <a:t>⭐ GitHub: EmotionAI-2026-WHU/emotion-recognition</a:t>
            </a:r>
            <a:endParaRPr sz="2400">
              <a:solidFill>
                <a:srgbClr val="B4C8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2035</Words>
  <Application>WPS 演示</Application>
  <PresentationFormat>On-screen Show (4:3)</PresentationFormat>
  <Paragraphs>103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细粒度对话情绪识别系统</vt:lpstr>
      <vt:lpstr>项目背景与动机</vt:lpstr>
      <vt:lpstr>技术方案总览</vt:lpstr>
      <vt:lpstr>数据集与预处理</vt:lpstr>
      <vt:lpstr>模型架构与核心创新</vt:lpstr>
      <vt:lpstr>实验结果：打破细粒度情绪识别 SOTA</vt:lpstr>
      <vt:lpstr>系统架构与弹性部署方案</vt:lpstr>
      <vt:lpstr>系统前端展示与交互</vt:lpstr>
      <vt:lpstr>一键式自动全流程管线</vt:lpstr>
      <vt:lpstr>总结与未来展望</vt:lpstr>
      <vt:lpstr>Q &amp; A / 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钟佳鹏</cp:lastModifiedBy>
  <cp:revision>4</cp:revision>
  <dcterms:created xsi:type="dcterms:W3CDTF">2013-01-27T09:14:00Z</dcterms:created>
  <dcterms:modified xsi:type="dcterms:W3CDTF">2026-03-04T14:51:42Z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C37522FBD8154C08AC30E8AC341736B4_12</vt:lpwstr>
  </property>
  <property fmtid="{D5CDD505-2E9C-101B-9397-08002B2CF9AE}" pid="3" name="KSOProductBuildVer">
    <vt:lpwstr>2052-12.1.0.23542</vt:lpwstr>
  </property>
</Properties>
</file>